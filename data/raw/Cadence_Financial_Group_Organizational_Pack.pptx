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1C776-7677-4ECE-A2BC-F202FF94A5FE}" type="datetimeFigureOut"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E83E2-82DD-4E6E-AE6A-1D1F2EF00C8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8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0"/>
            <a:ext cx="4965192" cy="6858000"/>
          </a:xfrm>
          <a:prstGeom prst="rect">
            <a:avLst/>
          </a:prstGeom>
          <a:solidFill>
            <a:srgbClr val="0B1A33"/>
          </a:solidFill>
          <a:ln/>
        </p:spPr>
      </p:sp>
      <p:pic>
        <p:nvPicPr>
          <p:cNvPr id="4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868680"/>
            <a:ext cx="3017520" cy="981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2240280"/>
            <a:ext cx="5760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Organizational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Pack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170432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structure, reporting lines and accountability matrices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43000" y="4572000"/>
            <a:ext cx="1280160" cy="4114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48006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D5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·  Version 1.0  ·  Internal —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001000" y="10515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098280" y="1161288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officers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01000" y="1965960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</p:sp>
      <p:sp>
        <p:nvSpPr>
          <p:cNvPr id="12" name="Text 9"/>
          <p:cNvSpPr/>
          <p:nvPr/>
        </p:nvSpPr>
        <p:spPr>
          <a:xfrm>
            <a:off x="8001000" y="225856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9098280" y="236829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role holders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01000" y="3172968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</p:sp>
      <p:sp>
        <p:nvSpPr>
          <p:cNvPr id="15" name="Text 12"/>
          <p:cNvSpPr/>
          <p:nvPr/>
        </p:nvSpPr>
        <p:spPr>
          <a:xfrm>
            <a:off x="8001000" y="346557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9098280" y="3575304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matrices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01000" y="4379976"/>
            <a:ext cx="3383280" cy="10973"/>
          </a:xfrm>
          <a:prstGeom prst="rect">
            <a:avLst/>
          </a:prstGeom>
          <a:solidFill>
            <a:srgbClr val="2A3D5E"/>
          </a:solidFill>
          <a:ln/>
        </p:spPr>
      </p:sp>
      <p:sp>
        <p:nvSpPr>
          <p:cNvPr id="18" name="Text 15"/>
          <p:cNvSpPr/>
          <p:nvPr/>
        </p:nvSpPr>
        <p:spPr>
          <a:xfrm>
            <a:off x="8001000" y="467258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8A3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6"/>
          <p:cNvSpPr/>
          <p:nvPr/>
        </p:nvSpPr>
        <p:spPr>
          <a:xfrm>
            <a:off x="9098280" y="4782312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Divisional structures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3258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is organised into five reporting divisions under the Chief Executive Officer. Governance of technology, data and risk activity is distributed across the Technology &amp; Data and Risk, Compliance &amp; Security divisions, with joint accountability recorded in the matrices that follow.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Office of the CEO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8952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communications and board reporting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8952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Marguerite Vossberg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07408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07408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63440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servicing, payments and shared services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663440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Desmond Achterberg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311896" y="2240280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311896" y="2240280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20" name="Text 17"/>
          <p:cNvSpPr/>
          <p:nvPr/>
        </p:nvSpPr>
        <p:spPr>
          <a:xfrm>
            <a:off x="8567928" y="24780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67928" y="28163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Treasury, financial control and planning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567928" y="33101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Priyanka Raghunathan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02920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25" name="Text 22"/>
          <p:cNvSpPr/>
          <p:nvPr/>
        </p:nvSpPr>
        <p:spPr>
          <a:xfrm>
            <a:off x="758952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Data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58952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Engineering, infrastructure, data and security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58952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Tobias Lindqvist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407408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07408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30" name="Text 27"/>
          <p:cNvSpPr/>
          <p:nvPr/>
        </p:nvSpPr>
        <p:spPr>
          <a:xfrm>
            <a:off x="466344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Compliance &amp; Security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663440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risk, compliance, privacy and assurance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663440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Adaeze Okonkwo-Bell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311896" y="4014216"/>
            <a:ext cx="3520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8311896" y="4014216"/>
            <a:ext cx="3520440" cy="64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35" name="Text 32"/>
          <p:cNvSpPr/>
          <p:nvPr/>
        </p:nvSpPr>
        <p:spPr>
          <a:xfrm>
            <a:off x="8567928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&amp; Culture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567928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Talent, workforce policy and employee relations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567928" y="50840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Rosalind Featherstone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9" name="Text 36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Leadership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TIER 1 AND TIER 2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2588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45736" y="132588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9" name="Text 6"/>
          <p:cNvSpPr/>
          <p:nvPr/>
        </p:nvSpPr>
        <p:spPr>
          <a:xfrm>
            <a:off x="4928616" y="14081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Marguerite Vossberg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4592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87452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m.vossberg@cadencefg.example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0114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14600"/>
            <a:ext cx="0" cy="45720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85900" y="2971800"/>
            <a:ext cx="9217152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485900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340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4340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Desmond Achterberg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7220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OPERATING OFFICER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7220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d.achterberg@cadencefg.example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0121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790188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738628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738628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1508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Priyanka Raghunathan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921508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921508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p.raghunathan@cadencefg.example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0128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6094476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42916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042916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29" name="Text 26"/>
          <p:cNvSpPr/>
          <p:nvPr/>
        </p:nvSpPr>
        <p:spPr>
          <a:xfrm>
            <a:off x="5225796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Tobias Lindqvist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225796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OFFICER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225796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t.lindqvist@cadencefg.example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0133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8398764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347204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347204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35" name="Text 32"/>
          <p:cNvSpPr/>
          <p:nvPr/>
        </p:nvSpPr>
        <p:spPr>
          <a:xfrm>
            <a:off x="7530084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Adaeze Okonkwo-Bell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530084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530084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a.okonkwobell@cadencefg.example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0139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10703052" y="2971800"/>
            <a:ext cx="0" cy="3200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51492" y="3291840"/>
            <a:ext cx="2103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9651492" y="3291840"/>
            <a:ext cx="68580" cy="123444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1" name="Text 38"/>
          <p:cNvSpPr/>
          <p:nvPr/>
        </p:nvSpPr>
        <p:spPr>
          <a:xfrm>
            <a:off x="9834372" y="3374136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Rosalind Featherstone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834372" y="361188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PEOPLE OFFICER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9834372" y="3840480"/>
            <a:ext cx="18013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r.featherstone@cadencefg.example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0145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502920" y="4983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502920" y="4983480"/>
            <a:ext cx="68580" cy="109728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6" name="Text 43"/>
          <p:cNvSpPr/>
          <p:nvPr/>
        </p:nvSpPr>
        <p:spPr>
          <a:xfrm>
            <a:off x="685800" y="50657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Bartholomew Nkemdirim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85800" y="530352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COUNSEL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685800" y="55321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b.nkemdirim@cadencefg.example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0196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520440" y="49834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520440" y="4983480"/>
            <a:ext cx="68580" cy="109728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51" name="Text 48"/>
          <p:cNvSpPr/>
          <p:nvPr/>
        </p:nvSpPr>
        <p:spPr>
          <a:xfrm>
            <a:off x="3703320" y="5065776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Yasmin El-Katib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3703320" y="530352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703320" y="5532120"/>
            <a:ext cx="2441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y.elkatib@cadencefg.example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0192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6629400" y="49834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reporting line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Counsel and the Data Protection Officer report directly to the Chief Executive Officer and hold a standing reporting line to the Board Risk Committee.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56" name="Text 53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&amp; Data Division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REPORTING TO THE CHIEF INFORMATION OFFICER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7160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45736" y="137160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9" name="Text 6"/>
          <p:cNvSpPr/>
          <p:nvPr/>
        </p:nvSpPr>
        <p:spPr>
          <a:xfrm>
            <a:off x="4928616" y="1453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Tobias Lindqvist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916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INFORMATION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920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t.lindqvist@cadencefg.example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0133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60320"/>
            <a:ext cx="0" cy="50292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42516" y="3063240"/>
            <a:ext cx="850392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4251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Emiliano Bertucci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INFORMATION SECURITY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809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e.bertucci@cadencefg.example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0152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7715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1985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1985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23" name="Text 20"/>
          <p:cNvSpPr/>
          <p:nvPr/>
        </p:nvSpPr>
        <p:spPr>
          <a:xfrm>
            <a:off x="360273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Colette Marchetti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0273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ENGINEERING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60273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c.marchetti@cadencefg.example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0163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51179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5449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5449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29" name="Text 26"/>
          <p:cNvSpPr/>
          <p:nvPr/>
        </p:nvSpPr>
        <p:spPr>
          <a:xfrm>
            <a:off x="643737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Hyun-Woo Park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3737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DATA &amp; ANALYTICS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43737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h.park@cadencefg.example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0157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346436" y="3063240"/>
            <a:ext cx="0" cy="338328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89136" y="3401568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089136" y="3401568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35" name="Text 32"/>
          <p:cNvSpPr/>
          <p:nvPr/>
        </p:nvSpPr>
        <p:spPr>
          <a:xfrm>
            <a:off x="9272016" y="3483864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Nikolai Brandvold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272016" y="372160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INFRASTRUCTURE &amp; CLOUD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272016" y="3950208"/>
            <a:ext cx="2212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n.brandvold@cadencefg.example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0168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8521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39" name="Shape 36"/>
          <p:cNvSpPr/>
          <p:nvPr/>
        </p:nvSpPr>
        <p:spPr>
          <a:xfrm>
            <a:off x="58521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40" name="Text 37"/>
          <p:cNvSpPr/>
          <p:nvPr/>
        </p:nvSpPr>
        <p:spPr>
          <a:xfrm>
            <a:off x="74980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74980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operations, identity, vulnerability management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41985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43" name="Shape 40"/>
          <p:cNvSpPr/>
          <p:nvPr/>
        </p:nvSpPr>
        <p:spPr>
          <a:xfrm>
            <a:off x="341985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44" name="Text 41"/>
          <p:cNvSpPr/>
          <p:nvPr/>
        </p:nvSpPr>
        <p:spPr>
          <a:xfrm>
            <a:off x="358444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358444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platform, digital channels, release management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25449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47" name="Shape 44"/>
          <p:cNvSpPr/>
          <p:nvPr/>
        </p:nvSpPr>
        <p:spPr>
          <a:xfrm>
            <a:off x="625449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48" name="Text 45"/>
          <p:cNvSpPr/>
          <p:nvPr/>
        </p:nvSpPr>
        <p:spPr>
          <a:xfrm>
            <a:off x="641908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641908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platform, model development, reporting services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089136" y="4937760"/>
            <a:ext cx="2514600" cy="960120"/>
          </a:xfrm>
          <a:prstGeom prst="rect">
            <a:avLst/>
          </a:prstGeom>
          <a:solidFill>
            <a:srgbClr val="E7EAEF"/>
          </a:solidFill>
          <a:ln/>
        </p:spPr>
      </p:sp>
      <p:sp>
        <p:nvSpPr>
          <p:cNvPr id="51" name="Shape 48"/>
          <p:cNvSpPr/>
          <p:nvPr/>
        </p:nvSpPr>
        <p:spPr>
          <a:xfrm>
            <a:off x="9089136" y="4937760"/>
            <a:ext cx="2514600" cy="457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52" name="Text 49"/>
          <p:cNvSpPr/>
          <p:nvPr/>
        </p:nvSpPr>
        <p:spPr>
          <a:xfrm>
            <a:off x="9253728" y="5074920"/>
            <a:ext cx="2185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Cloud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253728" y="5303520"/>
            <a:ext cx="2185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networks, resilience and cloud governance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Compliance &amp; Security Division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— REPORTING TO THE CHIEF RISK OFFICER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45736" y="1371600"/>
            <a:ext cx="2697480" cy="1188720"/>
          </a:xfrm>
          <a:prstGeom prst="rect">
            <a:avLst/>
          </a:prstGeom>
          <a:solidFill>
            <a:srgbClr val="12284C"/>
          </a:solidFill>
          <a:ln w="6350">
            <a:solidFill>
              <a:srgbClr val="12284C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45736" y="1371600"/>
            <a:ext cx="68580" cy="118872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9" name="Text 6"/>
          <p:cNvSpPr/>
          <p:nvPr/>
        </p:nvSpPr>
        <p:spPr>
          <a:xfrm>
            <a:off x="4928616" y="145389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Adaeze Okonkwo-Bell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28616" y="1691640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RISK OFFICER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28616" y="1920240"/>
            <a:ext cx="2395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a.okonkwobell@cadencefg.example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0139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094476" y="2560320"/>
            <a:ext cx="0" cy="54864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842516" y="3108960"/>
            <a:ext cx="8503920" cy="0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4251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8521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7" name="Text 14"/>
          <p:cNvSpPr/>
          <p:nvPr/>
        </p:nvSpPr>
        <p:spPr>
          <a:xfrm>
            <a:off x="76809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Imani Oduya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809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COMPLIANCE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6809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i.oduya@cadencefg.example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0174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67715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1985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41985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23" name="Text 20"/>
          <p:cNvSpPr/>
          <p:nvPr/>
        </p:nvSpPr>
        <p:spPr>
          <a:xfrm>
            <a:off x="360273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Gerhardt Wenzel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0273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VP, OPERATIONAL RISK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60273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g.wenzel@cadencefg.example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0179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751179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5449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5449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29" name="Text 26"/>
          <p:cNvSpPr/>
          <p:nvPr/>
        </p:nvSpPr>
        <p:spPr>
          <a:xfrm>
            <a:off x="643737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Solveig Aarnio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43737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THIRD-PARTY RISK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43737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s.aarnio@cadencefg.example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0183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10346436" y="3108960"/>
            <a:ext cx="0" cy="347472"/>
          </a:xfrm>
          <a:prstGeom prst="line">
            <a:avLst/>
          </a:prstGeom>
          <a:noFill/>
          <a:ln w="15875">
            <a:solidFill>
              <a:srgbClr val="9AA3B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89136" y="3456432"/>
            <a:ext cx="251460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CE3"/>
            </a:solidFill>
            <a:prstDash val="solid"/>
          </a:ln>
          <a:effectLst>
            <a:outerShdw blurRad="1016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9089136" y="3456432"/>
            <a:ext cx="68580" cy="12070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35" name="Text 32"/>
          <p:cNvSpPr/>
          <p:nvPr/>
        </p:nvSpPr>
        <p:spPr>
          <a:xfrm>
            <a:off x="9272016" y="3538728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2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Rafael Quintanilla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272016" y="3776472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INTERNAL ASSURANCE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272016" y="4005072"/>
            <a:ext cx="2212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r.quintanilla@cadencefg.example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+1 (555) 0188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502920" y="4892040"/>
            <a:ext cx="1118311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02920" y="4892040"/>
            <a:ext cx="68580" cy="1005840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0" name="Text 37"/>
          <p:cNvSpPr/>
          <p:nvPr/>
        </p:nvSpPr>
        <p:spPr>
          <a:xfrm>
            <a:off x="777240" y="49834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22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interlock   </a:t>
            </a:r>
            <a:r>
              <a:rPr lang="en-US" sz="11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Chief Risk Officer chairs the Enterprise Risk Committee. The Data Protection Officer, the VP Information Security and the Director of Third-Party Risk hold standing membership. Escalations from the divisions feed the committee on a monthly cycle, with material items routed to the Board Risk Committee.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 — AI &amp; Data Governance Programme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BY ACTIVITY AND ROLE HOLDER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 Vossberg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 Lindqvist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Okonkwo-Bell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Bertucci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InfoSec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Park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 El-Katib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Oduya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use-case intake and approval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inventory and registration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classification and PII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impact assessment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review of AI platforms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monitoring and drift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reporting on AI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funding and prioritisation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8696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2" name="Text 8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6148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solidFill>
            <a:srgbClr val="8C97A8"/>
          </a:solidFill>
          <a:ln/>
        </p:spPr>
      </p:sp>
      <p:sp>
        <p:nvSpPr>
          <p:cNvPr id="15" name="Text 11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3600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8" name="Text 14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1052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955280" y="5084064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cells indicate no formal involvement</a:t>
            </a:r>
            <a:endParaRPr lang="en-US" sz="9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activity.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RACI — Third-Party Risk &amp; Incident Response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BY ACTIVITY AND ROLE HOLDER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11183112" cy="91440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38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Okonkwo-Bell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Aarnio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TPRM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Bertucci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InfoSec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 Wenzel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Op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 Brandvold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Nkemdirim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Counsel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 Quintanilla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Assurance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onboarding due diligence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report review and gap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Contractual security schedules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vendor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detection and triage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escalation and notification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Post-incident review and remediation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2632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control testing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97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5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1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B1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A3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8696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2" name="Text 8"/>
          <p:cNvSpPr/>
          <p:nvPr/>
        </p:nvSpPr>
        <p:spPr>
          <a:xfrm>
            <a:off x="237744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76148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solidFill>
            <a:srgbClr val="8C97A8"/>
          </a:solidFill>
          <a:ln/>
        </p:spPr>
      </p:sp>
      <p:sp>
        <p:nvSpPr>
          <p:cNvPr id="15" name="Text 11"/>
          <p:cNvSpPr/>
          <p:nvPr/>
        </p:nvSpPr>
        <p:spPr>
          <a:xfrm>
            <a:off x="425196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63600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solidFill>
            <a:srgbClr val="DDE1E7"/>
          </a:solidFill>
          <a:ln/>
        </p:spPr>
      </p:sp>
      <p:sp>
        <p:nvSpPr>
          <p:cNvPr id="18" name="Text 14"/>
          <p:cNvSpPr/>
          <p:nvPr/>
        </p:nvSpPr>
        <p:spPr>
          <a:xfrm>
            <a:off x="6126480" y="5138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5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10528" y="51389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7955280" y="5084064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holders are listed by name; contact</a:t>
            </a:r>
            <a:endParaRPr lang="en-US" sz="900" dirty="0"/>
          </a:p>
          <a:p>
            <a:pPr marL="0" indent="0" algn="r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16F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appear in the directory.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4114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Holder Directory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CONTACTS BY DIVISION</a:t>
            </a:r>
            <a:endParaRPr lang="en-US" sz="1000" dirty="0"/>
          </a:p>
        </p:txBody>
      </p:sp>
      <p:pic>
        <p:nvPicPr>
          <p:cNvPr id="6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0112" y="219456"/>
            <a:ext cx="1645920" cy="53492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Marguerite Vossberg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Executive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m.vossberg@cadencefg.example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Bartholomew Nkemdirim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Counsel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b.nkemdirim@cadencefg.example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Yasmin El-Katib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the CEO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y.elkatib@cadencefg.example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Desmond Achterberg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Operating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d.achterberg@cadencefg.example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Priyanka Raghunathan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Financial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p.raghunathan@cadencefg.example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Rosalind Featherstone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People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&amp; Culture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r.featherstone@cadencefg.example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Tobias Lindqvist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Information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t.lindqvist@cadencefg.example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Emiliano Bertucci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Information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e.bertucci@cadencefg.example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Colette Marchetti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Engineering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c.marchetti@cadencefg.example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Hyun-Woo Park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Data &amp;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h.park@cadencefg.example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Nikolai Brandvold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Infrastructure &amp; Cloud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&amp;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n.brandvold@cadencefg.example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0168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Adaeze Okonkwo-Bell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Chief Risk Officer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a.okonkwobell@cadencefg.example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0139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Imani Oduya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i.oduya@cadencefg.example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Gerhardt Wenzel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VP, Operational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g.wenzel@cadencefg.example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Solveig Aarnio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Director, Third-Party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s.aarnio@cadencefg.example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22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Rafael Quintanilla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Director, Internal Assurance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16F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Risk, Compliance &amp;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r.quintanilla@cadencefg.example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(555) 0188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2284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647395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Financial Group  |  Internal — Confidential  |  Contains personal data (synthetic sample)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1274552" y="64739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8A34B"/>
          </a:solidFill>
          <a:ln/>
        </p:spPr>
      </p:sp>
      <p:pic>
        <p:nvPicPr>
          <p:cNvPr id="3" name="Image 0" descr="/mnt/user-data/uploads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85800"/>
            <a:ext cx="2377440" cy="7726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of Personal Data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1143000" y="2761488"/>
            <a:ext cx="54864" cy="65836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6" name="Text 3"/>
          <p:cNvSpPr/>
          <p:nvPr/>
        </p:nvSpPr>
        <p:spPr>
          <a:xfrm>
            <a:off x="1389888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840480" y="2715768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pack carries an Internal — Confidential marking and holds directory-level personal data comprising names, corporate email addresses and mobile numbers.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43000" y="3703320"/>
            <a:ext cx="54864" cy="65836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9" name="Text 6"/>
          <p:cNvSpPr/>
          <p:nvPr/>
        </p:nvSpPr>
        <p:spPr>
          <a:xfrm>
            <a:off x="1389888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840480" y="365760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is limited to named recipients with a defined business need. Onward forwarding, printing and upload to third-party or generative AI tools are to be avoided.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43000" y="4645152"/>
            <a:ext cx="54864" cy="65836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2" name="Text 9"/>
          <p:cNvSpPr/>
          <p:nvPr/>
        </p:nvSpPr>
        <p:spPr>
          <a:xfrm>
            <a:off x="1389888" y="4599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notice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840480" y="4599432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holder details shown are synthetic and have been generated for illustration. Live records are to be sourced from the HR system of record before operational use.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143000" y="5586984"/>
            <a:ext cx="54864" cy="658368"/>
          </a:xfrm>
          <a:prstGeom prst="rect">
            <a:avLst/>
          </a:prstGeom>
          <a:solidFill>
            <a:srgbClr val="C8A34B"/>
          </a:solidFill>
          <a:ln/>
        </p:spPr>
      </p:sp>
      <p:sp>
        <p:nvSpPr>
          <p:cNvPr id="15" name="Text 12"/>
          <p:cNvSpPr/>
          <p:nvPr/>
        </p:nvSpPr>
        <p:spPr>
          <a:xfrm>
            <a:off x="1389888" y="5541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A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3840480" y="5541264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3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versions are to be withdrawn once a revised pack is issued; retention beyond the current reporting cycle is not anticipated.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428BFF0AD25F428DB172A579BD886C" ma:contentTypeVersion="25" ma:contentTypeDescription="Create a new document." ma:contentTypeScope="" ma:versionID="b6bea83dc01e70b2ac1bc90157e42b2f">
  <xsd:schema xmlns:xsd="http://www.w3.org/2001/XMLSchema" xmlns:xs="http://www.w3.org/2001/XMLSchema" xmlns:p="http://schemas.microsoft.com/office/2006/metadata/properties" xmlns:ns2="50b3145b-1ae8-4618-a85d-589520822f12" xmlns:ns3="83eabc67-0888-44e7-89b6-22274f6ed6bc" targetNamespace="http://schemas.microsoft.com/office/2006/metadata/properties" ma:root="true" ma:fieldsID="8e64121b30f3a77209b22abe10e844e6" ns2:_="" ns3:_="">
    <xsd:import namespace="50b3145b-1ae8-4618-a85d-589520822f12"/>
    <xsd:import namespace="83eabc67-0888-44e7-89b6-22274f6ed6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3145b-1ae8-4618-a85d-589520822f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displayName="Image Tags_0" ma:hidden="true" ma:internalName="lcf76f155ced4ddcb4097134ff3c332f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eabc67-0888-44e7-89b6-22274f6ed6bc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b3145b-1ae8-4618-a85d-589520822f12" xsi:nil="true"/>
  </documentManagement>
</p:properties>
</file>

<file path=customXml/itemProps1.xml><?xml version="1.0" encoding="utf-8"?>
<ds:datastoreItem xmlns:ds="http://schemas.openxmlformats.org/officeDocument/2006/customXml" ds:itemID="{C2571EE1-FB05-491E-81D4-F3161752939C}"/>
</file>

<file path=customXml/itemProps2.xml><?xml version="1.0" encoding="utf-8"?>
<ds:datastoreItem xmlns:ds="http://schemas.openxmlformats.org/officeDocument/2006/customXml" ds:itemID="{50C84BA5-E3BA-4013-A78E-033E240ED03C}"/>
</file>

<file path=customXml/itemProps3.xml><?xml version="1.0" encoding="utf-8"?>
<ds:datastoreItem xmlns:ds="http://schemas.openxmlformats.org/officeDocument/2006/customXml" ds:itemID="{EA6C03CB-1986-491C-8C08-E92E90D8668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Cadence Financial Group — Organizational Reference Pack</dc:title>
  <dc:subject>PptxGenJS Presentation</dc:subject>
  <dc:creator>[OC] Divisha Kilari</dc:creator>
  <cp:lastModifiedBy>[OC] Divisha Kilari</cp:lastModifiedBy>
  <cp:revision>2</cp:revision>
  <dcterms:created xsi:type="dcterms:W3CDTF">2026-09-17T05:59:02Z</dcterms:created>
  <dcterms:modified xsi:type="dcterms:W3CDTF">2026-09-17T06:00:43Z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0x010100D7428BFF0AD25F428DB172A579BD886C</vt:lpwstr>
  </property>
</Properties>
</file>